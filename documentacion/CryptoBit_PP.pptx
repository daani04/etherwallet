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nonymous Pro" charset="1" panose="02060609030202000504"/>
      <p:regular r:id="rId15"/>
    </p:embeddedFont>
    <p:embeddedFont>
      <p:font typeface="Anonymous Pro Bold" charset="1" panose="02060809030202000504"/>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736377" y="7936471"/>
            <a:ext cx="3551623" cy="2350529"/>
          </a:xfrm>
          <a:custGeom>
            <a:avLst/>
            <a:gdLst/>
            <a:ahLst/>
            <a:cxnLst/>
            <a:rect r="r" b="b" t="t" l="l"/>
            <a:pathLst>
              <a:path h="2350529" w="3551623">
                <a:moveTo>
                  <a:pt x="0" y="0"/>
                </a:moveTo>
                <a:lnTo>
                  <a:pt x="3551623" y="0"/>
                </a:lnTo>
                <a:lnTo>
                  <a:pt x="3551623" y="2350529"/>
                </a:lnTo>
                <a:lnTo>
                  <a:pt x="0" y="23505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897" y="7948733"/>
            <a:ext cx="3551623" cy="2350529"/>
          </a:xfrm>
          <a:custGeom>
            <a:avLst/>
            <a:gdLst/>
            <a:ahLst/>
            <a:cxnLst/>
            <a:rect r="r" b="b" t="t" l="l"/>
            <a:pathLst>
              <a:path h="2350529" w="3551623">
                <a:moveTo>
                  <a:pt x="3551623" y="0"/>
                </a:moveTo>
                <a:lnTo>
                  <a:pt x="0" y="0"/>
                </a:lnTo>
                <a:lnTo>
                  <a:pt x="0" y="2350529"/>
                </a:lnTo>
                <a:lnTo>
                  <a:pt x="3551623" y="2350529"/>
                </a:lnTo>
                <a:lnTo>
                  <a:pt x="355162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360660" y="3344780"/>
            <a:ext cx="11566680" cy="2553852"/>
          </a:xfrm>
          <a:prstGeom prst="rect">
            <a:avLst/>
          </a:prstGeom>
        </p:spPr>
        <p:txBody>
          <a:bodyPr anchor="t" rtlCol="false" tIns="0" lIns="0" bIns="0" rIns="0">
            <a:spAutoFit/>
          </a:bodyPr>
          <a:lstStyle/>
          <a:p>
            <a:pPr algn="ctr">
              <a:lnSpc>
                <a:spcPts val="20828"/>
              </a:lnSpc>
              <a:spcBef>
                <a:spcPct val="0"/>
              </a:spcBef>
            </a:pPr>
            <a:r>
              <a:rPr lang="en-US" sz="14877">
                <a:solidFill>
                  <a:srgbClr val="C1FF72"/>
                </a:solidFill>
                <a:latin typeface="Anonymous Pro"/>
                <a:ea typeface="Anonymous Pro"/>
                <a:cs typeface="Anonymous Pro"/>
                <a:sym typeface="Anonymous Pro"/>
              </a:rPr>
              <a:t>CRYPTOBIT</a:t>
            </a:r>
          </a:p>
        </p:txBody>
      </p:sp>
      <p:sp>
        <p:nvSpPr>
          <p:cNvPr name="Freeform 6" id="6"/>
          <p:cNvSpPr/>
          <p:nvPr/>
        </p:nvSpPr>
        <p:spPr>
          <a:xfrm flipH="false" flipV="false" rot="0">
            <a:off x="2320288" y="2809428"/>
            <a:ext cx="3423515" cy="2798724"/>
          </a:xfrm>
          <a:custGeom>
            <a:avLst/>
            <a:gdLst/>
            <a:ahLst/>
            <a:cxnLst/>
            <a:rect r="r" b="b" t="t" l="l"/>
            <a:pathLst>
              <a:path h="2798724" w="3423515">
                <a:moveTo>
                  <a:pt x="0" y="0"/>
                </a:moveTo>
                <a:lnTo>
                  <a:pt x="3423516" y="0"/>
                </a:lnTo>
                <a:lnTo>
                  <a:pt x="3423516" y="2798724"/>
                </a:lnTo>
                <a:lnTo>
                  <a:pt x="0" y="2798724"/>
                </a:lnTo>
                <a:lnTo>
                  <a:pt x="0" y="0"/>
                </a:lnTo>
                <a:close/>
              </a:path>
            </a:pathLst>
          </a:custGeom>
          <a:blipFill>
            <a:blip r:embed="rId5"/>
            <a:stretch>
              <a:fillRect l="0" t="0" r="0" b="0"/>
            </a:stretch>
          </a:blipFill>
        </p:spPr>
      </p:sp>
      <p:sp>
        <p:nvSpPr>
          <p:cNvPr name="Freeform 7" id="7"/>
          <p:cNvSpPr/>
          <p:nvPr/>
        </p:nvSpPr>
        <p:spPr>
          <a:xfrm flipH="true" flipV="false" rot="0">
            <a:off x="12544196" y="2809428"/>
            <a:ext cx="3423515" cy="2798724"/>
          </a:xfrm>
          <a:custGeom>
            <a:avLst/>
            <a:gdLst/>
            <a:ahLst/>
            <a:cxnLst/>
            <a:rect r="r" b="b" t="t" l="l"/>
            <a:pathLst>
              <a:path h="2798724" w="3423515">
                <a:moveTo>
                  <a:pt x="3423516" y="0"/>
                </a:moveTo>
                <a:lnTo>
                  <a:pt x="0" y="0"/>
                </a:lnTo>
                <a:lnTo>
                  <a:pt x="0" y="2798724"/>
                </a:lnTo>
                <a:lnTo>
                  <a:pt x="3423516" y="2798724"/>
                </a:lnTo>
                <a:lnTo>
                  <a:pt x="3423516" y="0"/>
                </a:lnTo>
                <a:close/>
              </a:path>
            </a:pathLst>
          </a:custGeom>
          <a:blipFill>
            <a:blip r:embed="rId5"/>
            <a:stretch>
              <a:fillRect l="0" t="0" r="0" b="0"/>
            </a:stretch>
          </a:blipFill>
        </p:spPr>
      </p:sp>
      <p:sp>
        <p:nvSpPr>
          <p:cNvPr name="Freeform 8" id="8"/>
          <p:cNvSpPr/>
          <p:nvPr/>
        </p:nvSpPr>
        <p:spPr>
          <a:xfrm flipH="false" flipV="false" rot="0">
            <a:off x="1028700" y="5063866"/>
            <a:ext cx="637073" cy="159268"/>
          </a:xfrm>
          <a:custGeom>
            <a:avLst/>
            <a:gdLst/>
            <a:ahLst/>
            <a:cxnLst/>
            <a:rect r="r" b="b" t="t" l="l"/>
            <a:pathLst>
              <a:path h="159268" w="637073">
                <a:moveTo>
                  <a:pt x="0" y="0"/>
                </a:moveTo>
                <a:lnTo>
                  <a:pt x="637073" y="0"/>
                </a:lnTo>
                <a:lnTo>
                  <a:pt x="637073" y="159268"/>
                </a:lnTo>
                <a:lnTo>
                  <a:pt x="0" y="1592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4090814" y="5523910"/>
            <a:ext cx="10106372" cy="1132332"/>
          </a:xfrm>
          <a:prstGeom prst="rect">
            <a:avLst/>
          </a:prstGeom>
        </p:spPr>
        <p:txBody>
          <a:bodyPr anchor="t" rtlCol="false" tIns="0" lIns="0" bIns="0" rIns="0">
            <a:spAutoFit/>
          </a:bodyPr>
          <a:lstStyle/>
          <a:p>
            <a:pPr algn="ctr">
              <a:lnSpc>
                <a:spcPts val="9199"/>
              </a:lnSpc>
              <a:spcBef>
                <a:spcPct val="0"/>
              </a:spcBef>
            </a:pPr>
            <a:r>
              <a:rPr lang="en-US" sz="6570" spc="2148">
                <a:solidFill>
                  <a:srgbClr val="C1FF72"/>
                </a:solidFill>
                <a:latin typeface="Anonymous Pro"/>
                <a:ea typeface="Anonymous Pro"/>
                <a:cs typeface="Anonymous Pro"/>
                <a:sym typeface="Anonymous Pro"/>
              </a:rPr>
              <a:t>PRESENTATION</a:t>
            </a:r>
          </a:p>
        </p:txBody>
      </p:sp>
      <p:sp>
        <p:nvSpPr>
          <p:cNvPr name="TextBox 10" id="10"/>
          <p:cNvSpPr txBox="true"/>
          <p:nvPr/>
        </p:nvSpPr>
        <p:spPr>
          <a:xfrm rot="0">
            <a:off x="1028700" y="981075"/>
            <a:ext cx="2016202" cy="332740"/>
          </a:xfrm>
          <a:prstGeom prst="rect">
            <a:avLst/>
          </a:prstGeom>
        </p:spPr>
        <p:txBody>
          <a:bodyPr anchor="t" rtlCol="false" tIns="0" lIns="0" bIns="0" rIns="0">
            <a:spAutoFit/>
          </a:bodyPr>
          <a:lstStyle/>
          <a:p>
            <a:pPr algn="l">
              <a:lnSpc>
                <a:spcPts val="2660"/>
              </a:lnSpc>
              <a:spcBef>
                <a:spcPct val="0"/>
              </a:spcBef>
            </a:pPr>
            <a:r>
              <a:rPr lang="en-US" sz="1900">
                <a:solidFill>
                  <a:srgbClr val="C1FF72"/>
                </a:solidFill>
                <a:latin typeface="Anonymous Pro"/>
                <a:ea typeface="Anonymous Pro"/>
                <a:cs typeface="Anonymous Pro"/>
                <a:sym typeface="Anonymous Pro"/>
              </a:rPr>
              <a:t>FLORIDA UNI</a:t>
            </a:r>
          </a:p>
        </p:txBody>
      </p:sp>
      <p:sp>
        <p:nvSpPr>
          <p:cNvPr name="Freeform 11" id="11"/>
          <p:cNvSpPr/>
          <p:nvPr/>
        </p:nvSpPr>
        <p:spPr>
          <a:xfrm flipH="false" flipV="false" rot="0">
            <a:off x="16622227" y="5063866"/>
            <a:ext cx="637073" cy="159268"/>
          </a:xfrm>
          <a:custGeom>
            <a:avLst/>
            <a:gdLst/>
            <a:ahLst/>
            <a:cxnLst/>
            <a:rect r="r" b="b" t="t" l="l"/>
            <a:pathLst>
              <a:path h="159268" w="637073">
                <a:moveTo>
                  <a:pt x="0" y="0"/>
                </a:moveTo>
                <a:lnTo>
                  <a:pt x="637073" y="0"/>
                </a:lnTo>
                <a:lnTo>
                  <a:pt x="637073" y="159268"/>
                </a:lnTo>
                <a:lnTo>
                  <a:pt x="0" y="1592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6357230" y="7422318"/>
            <a:ext cx="6186966" cy="986155"/>
          </a:xfrm>
          <a:prstGeom prst="rect">
            <a:avLst/>
          </a:prstGeom>
        </p:spPr>
        <p:txBody>
          <a:bodyPr anchor="t" rtlCol="false" tIns="0" lIns="0" bIns="0" rIns="0">
            <a:spAutoFit/>
          </a:bodyPr>
          <a:lstStyle/>
          <a:p>
            <a:pPr algn="l">
              <a:lnSpc>
                <a:spcPts val="3919"/>
              </a:lnSpc>
              <a:spcBef>
                <a:spcPct val="0"/>
              </a:spcBef>
            </a:pPr>
            <a:r>
              <a:rPr lang="en-US" sz="2799">
                <a:solidFill>
                  <a:srgbClr val="C1FF72"/>
                </a:solidFill>
                <a:latin typeface="Anonymous Pro"/>
                <a:ea typeface="Anonymous Pro"/>
                <a:cs typeface="Anonymous Pro"/>
                <a:sym typeface="Anonymous Pro"/>
              </a:rPr>
              <a:t>PRESENTADO POR GERMÁN, CARLOS, DANIELA Y DANI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832992"/>
            <a:ext cx="8048510" cy="1171194"/>
          </a:xfrm>
          <a:prstGeom prst="rect">
            <a:avLst/>
          </a:prstGeom>
        </p:spPr>
        <p:txBody>
          <a:bodyPr anchor="t" rtlCol="false" tIns="0" lIns="0" bIns="0" rIns="0">
            <a:spAutoFit/>
          </a:bodyPr>
          <a:lstStyle/>
          <a:p>
            <a:pPr algn="l">
              <a:lnSpc>
                <a:spcPts val="8448"/>
              </a:lnSpc>
            </a:pPr>
            <a:r>
              <a:rPr lang="en-US" sz="9600">
                <a:solidFill>
                  <a:srgbClr val="C1FF72"/>
                </a:solidFill>
                <a:latin typeface="Anonymous Pro"/>
                <a:ea typeface="Anonymous Pro"/>
                <a:cs typeface="Anonymous Pro"/>
                <a:sym typeface="Anonymous Pro"/>
              </a:rPr>
              <a:t>   ÍNDICE</a:t>
            </a:r>
          </a:p>
        </p:txBody>
      </p:sp>
      <p:sp>
        <p:nvSpPr>
          <p:cNvPr name="TextBox 4" id="4"/>
          <p:cNvSpPr txBox="true"/>
          <p:nvPr/>
        </p:nvSpPr>
        <p:spPr>
          <a:xfrm rot="0">
            <a:off x="9984201" y="2994661"/>
            <a:ext cx="6213209" cy="821530"/>
          </a:xfrm>
          <a:prstGeom prst="rect">
            <a:avLst/>
          </a:prstGeom>
        </p:spPr>
        <p:txBody>
          <a:bodyPr anchor="t" rtlCol="false" tIns="0" lIns="0" bIns="0" rIns="0">
            <a:spAutoFit/>
          </a:bodyPr>
          <a:lstStyle/>
          <a:p>
            <a:pPr algn="l" marL="1164884" indent="-582442" lvl="1">
              <a:lnSpc>
                <a:spcPts val="6474"/>
              </a:lnSpc>
              <a:buAutoNum type="arabicPeriod" startAt="1"/>
            </a:pPr>
            <a:r>
              <a:rPr lang="en-US" sz="5395">
                <a:solidFill>
                  <a:srgbClr val="C1FF72"/>
                </a:solidFill>
                <a:latin typeface="Anonymous Pro"/>
                <a:ea typeface="Anonymous Pro"/>
                <a:cs typeface="Anonymous Pro"/>
                <a:sym typeface="Anonymous Pro"/>
              </a:rPr>
              <a:t>DESCRIPCIÓN</a:t>
            </a:r>
          </a:p>
        </p:txBody>
      </p:sp>
      <p:sp>
        <p:nvSpPr>
          <p:cNvPr name="TextBox 5" id="5"/>
          <p:cNvSpPr txBox="true"/>
          <p:nvPr/>
        </p:nvSpPr>
        <p:spPr>
          <a:xfrm rot="0">
            <a:off x="9984201" y="3974971"/>
            <a:ext cx="6213209" cy="821530"/>
          </a:xfrm>
          <a:prstGeom prst="rect">
            <a:avLst/>
          </a:prstGeom>
        </p:spPr>
        <p:txBody>
          <a:bodyPr anchor="t" rtlCol="false" tIns="0" lIns="0" bIns="0" rIns="0">
            <a:spAutoFit/>
          </a:bodyPr>
          <a:lstStyle/>
          <a:p>
            <a:pPr algn="l" marL="1164884" indent="-582442" lvl="1">
              <a:lnSpc>
                <a:spcPts val="6474"/>
              </a:lnSpc>
              <a:buAutoNum type="arabicPeriod" startAt="1"/>
            </a:pPr>
            <a:r>
              <a:rPr lang="en-US" sz="5395">
                <a:solidFill>
                  <a:srgbClr val="C1FF72"/>
                </a:solidFill>
                <a:latin typeface="Anonymous Pro"/>
                <a:ea typeface="Anonymous Pro"/>
                <a:cs typeface="Anonymous Pro"/>
                <a:sym typeface="Anonymous Pro"/>
              </a:rPr>
              <a:t>PRESENTACIÓN</a:t>
            </a:r>
          </a:p>
        </p:txBody>
      </p:sp>
      <p:sp>
        <p:nvSpPr>
          <p:cNvPr name="TextBox 6" id="6"/>
          <p:cNvSpPr txBox="true"/>
          <p:nvPr/>
        </p:nvSpPr>
        <p:spPr>
          <a:xfrm rot="0">
            <a:off x="10341885" y="4958426"/>
            <a:ext cx="6213209" cy="821530"/>
          </a:xfrm>
          <a:prstGeom prst="rect">
            <a:avLst/>
          </a:prstGeom>
        </p:spPr>
        <p:txBody>
          <a:bodyPr anchor="t" rtlCol="false" tIns="0" lIns="0" bIns="0" rIns="0">
            <a:spAutoFit/>
          </a:bodyPr>
          <a:lstStyle/>
          <a:p>
            <a:pPr algn="l">
              <a:lnSpc>
                <a:spcPts val="6474"/>
              </a:lnSpc>
            </a:pPr>
            <a:r>
              <a:rPr lang="en-US" sz="5395">
                <a:solidFill>
                  <a:srgbClr val="C1FF72"/>
                </a:solidFill>
                <a:latin typeface="Anonymous Pro"/>
                <a:ea typeface="Anonymous Pro"/>
                <a:cs typeface="Anonymous Pro"/>
                <a:sym typeface="Anonymous Pro"/>
              </a:rPr>
              <a:t>3.MERCADO</a:t>
            </a:r>
          </a:p>
        </p:txBody>
      </p:sp>
      <p:sp>
        <p:nvSpPr>
          <p:cNvPr name="TextBox 7" id="7"/>
          <p:cNvSpPr txBox="true"/>
          <p:nvPr/>
        </p:nvSpPr>
        <p:spPr>
          <a:xfrm rot="0">
            <a:off x="10341885" y="5941880"/>
            <a:ext cx="6213209" cy="821530"/>
          </a:xfrm>
          <a:prstGeom prst="rect">
            <a:avLst/>
          </a:prstGeom>
        </p:spPr>
        <p:txBody>
          <a:bodyPr anchor="t" rtlCol="false" tIns="0" lIns="0" bIns="0" rIns="0">
            <a:spAutoFit/>
          </a:bodyPr>
          <a:lstStyle/>
          <a:p>
            <a:pPr algn="l">
              <a:lnSpc>
                <a:spcPts val="6474"/>
              </a:lnSpc>
            </a:pPr>
            <a:r>
              <a:rPr lang="en-US" sz="5395">
                <a:solidFill>
                  <a:srgbClr val="C1FF72"/>
                </a:solidFill>
                <a:latin typeface="Anonymous Pro"/>
                <a:ea typeface="Anonymous Pro"/>
                <a:cs typeface="Anonymous Pro"/>
                <a:sym typeface="Anonymous Pro"/>
              </a:rPr>
              <a:t>4.FUNCIONAMIENTO</a:t>
            </a:r>
          </a:p>
        </p:txBody>
      </p:sp>
      <p:sp>
        <p:nvSpPr>
          <p:cNvPr name="TextBox 8" id="8"/>
          <p:cNvSpPr txBox="true"/>
          <p:nvPr/>
        </p:nvSpPr>
        <p:spPr>
          <a:xfrm rot="0">
            <a:off x="10341885" y="6925335"/>
            <a:ext cx="6213209" cy="821530"/>
          </a:xfrm>
          <a:prstGeom prst="rect">
            <a:avLst/>
          </a:prstGeom>
        </p:spPr>
        <p:txBody>
          <a:bodyPr anchor="t" rtlCol="false" tIns="0" lIns="0" bIns="0" rIns="0">
            <a:spAutoFit/>
          </a:bodyPr>
          <a:lstStyle/>
          <a:p>
            <a:pPr algn="l">
              <a:lnSpc>
                <a:spcPts val="6474"/>
              </a:lnSpc>
            </a:pPr>
            <a:r>
              <a:rPr lang="en-US" sz="5395">
                <a:solidFill>
                  <a:srgbClr val="C1FF72"/>
                </a:solidFill>
                <a:latin typeface="Anonymous Pro"/>
                <a:ea typeface="Anonymous Pro"/>
                <a:cs typeface="Anonymous Pro"/>
                <a:sym typeface="Anonymous Pro"/>
              </a:rPr>
              <a:t>5.ARQUITECTURA</a:t>
            </a:r>
          </a:p>
        </p:txBody>
      </p:sp>
      <p:sp>
        <p:nvSpPr>
          <p:cNvPr name="TextBox 9" id="9"/>
          <p:cNvSpPr txBox="true"/>
          <p:nvPr/>
        </p:nvSpPr>
        <p:spPr>
          <a:xfrm rot="0">
            <a:off x="10341885" y="7908789"/>
            <a:ext cx="6213209" cy="821530"/>
          </a:xfrm>
          <a:prstGeom prst="rect">
            <a:avLst/>
          </a:prstGeom>
        </p:spPr>
        <p:txBody>
          <a:bodyPr anchor="t" rtlCol="false" tIns="0" lIns="0" bIns="0" rIns="0">
            <a:spAutoFit/>
          </a:bodyPr>
          <a:lstStyle/>
          <a:p>
            <a:pPr algn="l">
              <a:lnSpc>
                <a:spcPts val="6474"/>
              </a:lnSpc>
            </a:pPr>
            <a:r>
              <a:rPr lang="en-US" sz="5395">
                <a:solidFill>
                  <a:srgbClr val="C1FF72"/>
                </a:solidFill>
                <a:latin typeface="Anonymous Pro"/>
                <a:ea typeface="Anonymous Pro"/>
                <a:cs typeface="Anonymous Pro"/>
                <a:sym typeface="Anonymous Pro"/>
              </a:rPr>
              <a:t>6.CONTACTO</a:t>
            </a:r>
          </a:p>
        </p:txBody>
      </p:sp>
      <p:grpSp>
        <p:nvGrpSpPr>
          <p:cNvPr name="Group 10" id="10"/>
          <p:cNvGrpSpPr/>
          <p:nvPr/>
        </p:nvGrpSpPr>
        <p:grpSpPr>
          <a:xfrm rot="0">
            <a:off x="2331988" y="3410188"/>
            <a:ext cx="5441934" cy="5670213"/>
            <a:chOff x="0" y="0"/>
            <a:chExt cx="6094352" cy="6350000"/>
          </a:xfrm>
        </p:grpSpPr>
        <p:sp>
          <p:nvSpPr>
            <p:cNvPr name="Freeform 11" id="11"/>
            <p:cNvSpPr/>
            <p:nvPr/>
          </p:nvSpPr>
          <p:spPr>
            <a:xfrm flipH="false" flipV="false" rot="0">
              <a:off x="0" y="0"/>
              <a:ext cx="6095623" cy="6350000"/>
            </a:xfrm>
            <a:custGeom>
              <a:avLst/>
              <a:gdLst/>
              <a:ahLst/>
              <a:cxnLst/>
              <a:rect r="r" b="b" t="t" l="l"/>
              <a:pathLst>
                <a:path h="6350000" w="6095623">
                  <a:moveTo>
                    <a:pt x="5744537" y="0"/>
                  </a:moveTo>
                  <a:lnTo>
                    <a:pt x="349816" y="0"/>
                  </a:lnTo>
                  <a:cubicBezTo>
                    <a:pt x="156015" y="0"/>
                    <a:pt x="0" y="162560"/>
                    <a:pt x="0" y="364490"/>
                  </a:cubicBezTo>
                  <a:lnTo>
                    <a:pt x="0" y="5986780"/>
                  </a:lnTo>
                  <a:cubicBezTo>
                    <a:pt x="0" y="6187440"/>
                    <a:pt x="156015" y="6350000"/>
                    <a:pt x="349816" y="6350000"/>
                  </a:cubicBezTo>
                  <a:lnTo>
                    <a:pt x="5745756" y="6350000"/>
                  </a:lnTo>
                  <a:cubicBezTo>
                    <a:pt x="5938337" y="6350000"/>
                    <a:pt x="6095623" y="6187440"/>
                    <a:pt x="6095623" y="5985510"/>
                  </a:cubicBezTo>
                  <a:lnTo>
                    <a:pt x="6095623" y="364490"/>
                  </a:lnTo>
                  <a:cubicBezTo>
                    <a:pt x="6094352" y="162560"/>
                    <a:pt x="5938337" y="0"/>
                    <a:pt x="5744537" y="0"/>
                  </a:cubicBezTo>
                  <a:close/>
                </a:path>
              </a:pathLst>
            </a:custGeom>
            <a:blipFill>
              <a:blip r:embed="rId3"/>
              <a:stretch>
                <a:fillRect l="-2086" t="0" r="-2086"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4068891"/>
            <a:ext cx="6910835" cy="5189409"/>
          </a:xfrm>
          <a:custGeom>
            <a:avLst/>
            <a:gdLst/>
            <a:ahLst/>
            <a:cxnLst/>
            <a:rect r="r" b="b" t="t" l="l"/>
            <a:pathLst>
              <a:path h="5189409" w="6910835">
                <a:moveTo>
                  <a:pt x="0" y="0"/>
                </a:moveTo>
                <a:lnTo>
                  <a:pt x="6910835" y="0"/>
                </a:lnTo>
                <a:lnTo>
                  <a:pt x="6910835" y="5189409"/>
                </a:lnTo>
                <a:lnTo>
                  <a:pt x="0" y="51894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535537" y="4606633"/>
            <a:ext cx="4096973" cy="3581700"/>
          </a:xfrm>
          <a:custGeom>
            <a:avLst/>
            <a:gdLst/>
            <a:ahLst/>
            <a:cxnLst/>
            <a:rect r="r" b="b" t="t" l="l"/>
            <a:pathLst>
              <a:path h="3581700" w="4096973">
                <a:moveTo>
                  <a:pt x="0" y="0"/>
                </a:moveTo>
                <a:lnTo>
                  <a:pt x="4096973" y="0"/>
                </a:lnTo>
                <a:lnTo>
                  <a:pt x="4096973" y="3581700"/>
                </a:lnTo>
                <a:lnTo>
                  <a:pt x="0" y="3581700"/>
                </a:lnTo>
                <a:lnTo>
                  <a:pt x="0" y="0"/>
                </a:lnTo>
                <a:close/>
              </a:path>
            </a:pathLst>
          </a:custGeom>
          <a:blipFill>
            <a:blip r:embed="rId5"/>
            <a:stretch>
              <a:fillRect l="-3979" t="-9783" r="0" b="-866"/>
            </a:stretch>
          </a:blipFill>
        </p:spPr>
      </p:sp>
      <p:sp>
        <p:nvSpPr>
          <p:cNvPr name="TextBox 5" id="5"/>
          <p:cNvSpPr txBox="true"/>
          <p:nvPr/>
        </p:nvSpPr>
        <p:spPr>
          <a:xfrm rot="0">
            <a:off x="1028700" y="2531507"/>
            <a:ext cx="8048510" cy="1171194"/>
          </a:xfrm>
          <a:prstGeom prst="rect">
            <a:avLst/>
          </a:prstGeom>
        </p:spPr>
        <p:txBody>
          <a:bodyPr anchor="t" rtlCol="false" tIns="0" lIns="0" bIns="0" rIns="0">
            <a:spAutoFit/>
          </a:bodyPr>
          <a:lstStyle/>
          <a:p>
            <a:pPr algn="l">
              <a:lnSpc>
                <a:spcPts val="8448"/>
              </a:lnSpc>
            </a:pPr>
            <a:r>
              <a:rPr lang="en-US" sz="9600">
                <a:solidFill>
                  <a:srgbClr val="C1FF72"/>
                </a:solidFill>
                <a:latin typeface="Anonymous Pro"/>
                <a:ea typeface="Anonymous Pro"/>
                <a:cs typeface="Anonymous Pro"/>
                <a:sym typeface="Anonymous Pro"/>
              </a:rPr>
              <a:t>DESCRIPCIÓN</a:t>
            </a:r>
          </a:p>
        </p:txBody>
      </p:sp>
      <p:sp>
        <p:nvSpPr>
          <p:cNvPr name="TextBox 6" id="6"/>
          <p:cNvSpPr txBox="true"/>
          <p:nvPr/>
        </p:nvSpPr>
        <p:spPr>
          <a:xfrm rot="0">
            <a:off x="2265074" y="5133975"/>
            <a:ext cx="4438087" cy="2409825"/>
          </a:xfrm>
          <a:prstGeom prst="rect">
            <a:avLst/>
          </a:prstGeom>
        </p:spPr>
        <p:txBody>
          <a:bodyPr anchor="t" rtlCol="false" tIns="0" lIns="0" bIns="0" rIns="0">
            <a:spAutoFit/>
          </a:bodyPr>
          <a:lstStyle/>
          <a:p>
            <a:pPr algn="l">
              <a:lnSpc>
                <a:spcPts val="2160"/>
              </a:lnSpc>
            </a:pPr>
            <a:r>
              <a:rPr lang="en-US" sz="1800">
                <a:solidFill>
                  <a:srgbClr val="C1FF72"/>
                </a:solidFill>
                <a:latin typeface="Anonymous Pro"/>
                <a:ea typeface="Anonymous Pro"/>
                <a:cs typeface="Anonymous Pro"/>
                <a:sym typeface="Anonymous Pro"/>
              </a:rPr>
              <a:t>Nuestro proyecto es una aplicación especialmente diseñada para el trading de criptomonedas. En ella se pueden llevar a cabo diversas funciones relacionadas con el trading, para que tanto usuarios freelance como empresas, lleven a cabo sus transacciones de manera segura y eficaz.</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102528" y="3215809"/>
            <a:ext cx="9225287" cy="1171194"/>
          </a:xfrm>
          <a:prstGeom prst="rect">
            <a:avLst/>
          </a:prstGeom>
        </p:spPr>
        <p:txBody>
          <a:bodyPr anchor="t" rtlCol="false" tIns="0" lIns="0" bIns="0" rIns="0">
            <a:spAutoFit/>
          </a:bodyPr>
          <a:lstStyle/>
          <a:p>
            <a:pPr algn="l">
              <a:lnSpc>
                <a:spcPts val="8448"/>
              </a:lnSpc>
            </a:pPr>
            <a:r>
              <a:rPr lang="en-US" sz="9600">
                <a:solidFill>
                  <a:srgbClr val="C1FF72"/>
                </a:solidFill>
                <a:latin typeface="Anonymous Pro"/>
                <a:ea typeface="Anonymous Pro"/>
                <a:cs typeface="Anonymous Pro"/>
                <a:sym typeface="Anonymous Pro"/>
              </a:rPr>
              <a:t>MEET OUR TEAM</a:t>
            </a:r>
          </a:p>
        </p:txBody>
      </p:sp>
      <p:sp>
        <p:nvSpPr>
          <p:cNvPr name="TextBox 4" id="4"/>
          <p:cNvSpPr txBox="true"/>
          <p:nvPr/>
        </p:nvSpPr>
        <p:spPr>
          <a:xfrm rot="0">
            <a:off x="10508969" y="4981148"/>
            <a:ext cx="854724" cy="316230"/>
          </a:xfrm>
          <a:prstGeom prst="rect">
            <a:avLst/>
          </a:prstGeom>
        </p:spPr>
        <p:txBody>
          <a:bodyPr anchor="t" rtlCol="false" tIns="0" lIns="0" bIns="0" rIns="0">
            <a:spAutoFit/>
          </a:bodyPr>
          <a:lstStyle/>
          <a:p>
            <a:pPr algn="l">
              <a:lnSpc>
                <a:spcPts val="2520"/>
              </a:lnSpc>
            </a:pPr>
            <a:r>
              <a:rPr lang="en-US" sz="1800" spc="-36" b="true">
                <a:solidFill>
                  <a:srgbClr val="C1FF72"/>
                </a:solidFill>
                <a:latin typeface="Anonymous Pro Bold"/>
                <a:ea typeface="Anonymous Pro Bold"/>
                <a:cs typeface="Anonymous Pro Bold"/>
                <a:sym typeface="Anonymous Pro Bold"/>
              </a:rPr>
              <a:t>Dani</a:t>
            </a:r>
          </a:p>
        </p:txBody>
      </p:sp>
      <p:sp>
        <p:nvSpPr>
          <p:cNvPr name="TextBox 5" id="5"/>
          <p:cNvSpPr txBox="true"/>
          <p:nvPr/>
        </p:nvSpPr>
        <p:spPr>
          <a:xfrm rot="0">
            <a:off x="10508969" y="5350096"/>
            <a:ext cx="1798433" cy="316230"/>
          </a:xfrm>
          <a:prstGeom prst="rect">
            <a:avLst/>
          </a:prstGeom>
        </p:spPr>
        <p:txBody>
          <a:bodyPr anchor="t" rtlCol="false" tIns="0" lIns="0" bIns="0" rIns="0">
            <a:spAutoFit/>
          </a:bodyPr>
          <a:lstStyle/>
          <a:p>
            <a:pPr algn="l">
              <a:lnSpc>
                <a:spcPts val="2520"/>
              </a:lnSpc>
            </a:pPr>
            <a:r>
              <a:rPr lang="en-US" sz="1800" spc="-36">
                <a:solidFill>
                  <a:srgbClr val="C1FF72"/>
                </a:solidFill>
                <a:latin typeface="Anonymous Pro"/>
                <a:ea typeface="Anonymous Pro"/>
                <a:cs typeface="Anonymous Pro"/>
                <a:sym typeface="Anonymous Pro"/>
              </a:rPr>
              <a:t>Scrum Master</a:t>
            </a:r>
          </a:p>
        </p:txBody>
      </p:sp>
      <p:sp>
        <p:nvSpPr>
          <p:cNvPr name="TextBox 6" id="6"/>
          <p:cNvSpPr txBox="true"/>
          <p:nvPr/>
        </p:nvSpPr>
        <p:spPr>
          <a:xfrm rot="0">
            <a:off x="8102528" y="4981148"/>
            <a:ext cx="1769965" cy="316230"/>
          </a:xfrm>
          <a:prstGeom prst="rect">
            <a:avLst/>
          </a:prstGeom>
        </p:spPr>
        <p:txBody>
          <a:bodyPr anchor="t" rtlCol="false" tIns="0" lIns="0" bIns="0" rIns="0">
            <a:spAutoFit/>
          </a:bodyPr>
          <a:lstStyle/>
          <a:p>
            <a:pPr algn="l">
              <a:lnSpc>
                <a:spcPts val="2520"/>
              </a:lnSpc>
            </a:pPr>
            <a:r>
              <a:rPr lang="en-US" sz="1800" spc="-36" b="true">
                <a:solidFill>
                  <a:srgbClr val="C1FF72"/>
                </a:solidFill>
                <a:latin typeface="Anonymous Pro Bold"/>
                <a:ea typeface="Anonymous Pro Bold"/>
                <a:cs typeface="Anonymous Pro Bold"/>
                <a:sym typeface="Anonymous Pro Bold"/>
              </a:rPr>
              <a:t>Carlos</a:t>
            </a:r>
          </a:p>
        </p:txBody>
      </p:sp>
      <p:sp>
        <p:nvSpPr>
          <p:cNvPr name="TextBox 7" id="7"/>
          <p:cNvSpPr txBox="true"/>
          <p:nvPr/>
        </p:nvSpPr>
        <p:spPr>
          <a:xfrm rot="0">
            <a:off x="8102528" y="5350096"/>
            <a:ext cx="1769965" cy="316230"/>
          </a:xfrm>
          <a:prstGeom prst="rect">
            <a:avLst/>
          </a:prstGeom>
        </p:spPr>
        <p:txBody>
          <a:bodyPr anchor="t" rtlCol="false" tIns="0" lIns="0" bIns="0" rIns="0">
            <a:spAutoFit/>
          </a:bodyPr>
          <a:lstStyle/>
          <a:p>
            <a:pPr algn="l">
              <a:lnSpc>
                <a:spcPts val="2520"/>
              </a:lnSpc>
            </a:pPr>
            <a:r>
              <a:rPr lang="en-US" sz="1800" spc="-36">
                <a:solidFill>
                  <a:srgbClr val="C1FF72"/>
                </a:solidFill>
                <a:latin typeface="Anonymous Pro"/>
                <a:ea typeface="Anonymous Pro"/>
                <a:cs typeface="Anonymous Pro"/>
                <a:sym typeface="Anonymous Pro"/>
              </a:rPr>
              <a:t>Product owner</a:t>
            </a:r>
          </a:p>
        </p:txBody>
      </p:sp>
      <p:sp>
        <p:nvSpPr>
          <p:cNvPr name="TextBox 8" id="8"/>
          <p:cNvSpPr txBox="true"/>
          <p:nvPr/>
        </p:nvSpPr>
        <p:spPr>
          <a:xfrm rot="0">
            <a:off x="12715171" y="4981148"/>
            <a:ext cx="1072349" cy="316230"/>
          </a:xfrm>
          <a:prstGeom prst="rect">
            <a:avLst/>
          </a:prstGeom>
        </p:spPr>
        <p:txBody>
          <a:bodyPr anchor="t" rtlCol="false" tIns="0" lIns="0" bIns="0" rIns="0">
            <a:spAutoFit/>
          </a:bodyPr>
          <a:lstStyle/>
          <a:p>
            <a:pPr algn="l">
              <a:lnSpc>
                <a:spcPts val="2520"/>
              </a:lnSpc>
            </a:pPr>
            <a:r>
              <a:rPr lang="en-US" sz="1800" spc="-36" b="true">
                <a:solidFill>
                  <a:srgbClr val="C1FF72"/>
                </a:solidFill>
                <a:latin typeface="Anonymous Pro Bold"/>
                <a:ea typeface="Anonymous Pro Bold"/>
                <a:cs typeface="Anonymous Pro Bold"/>
                <a:sym typeface="Anonymous Pro Bold"/>
              </a:rPr>
              <a:t>Germán</a:t>
            </a:r>
          </a:p>
        </p:txBody>
      </p:sp>
      <p:sp>
        <p:nvSpPr>
          <p:cNvPr name="TextBox 9" id="9"/>
          <p:cNvSpPr txBox="true"/>
          <p:nvPr/>
        </p:nvSpPr>
        <p:spPr>
          <a:xfrm rot="0">
            <a:off x="12698326" y="5350096"/>
            <a:ext cx="1673129" cy="316230"/>
          </a:xfrm>
          <a:prstGeom prst="rect">
            <a:avLst/>
          </a:prstGeom>
        </p:spPr>
        <p:txBody>
          <a:bodyPr anchor="t" rtlCol="false" tIns="0" lIns="0" bIns="0" rIns="0">
            <a:spAutoFit/>
          </a:bodyPr>
          <a:lstStyle/>
          <a:p>
            <a:pPr algn="l">
              <a:lnSpc>
                <a:spcPts val="2520"/>
              </a:lnSpc>
            </a:pPr>
            <a:r>
              <a:rPr lang="en-US" sz="1800" spc="-36">
                <a:solidFill>
                  <a:srgbClr val="C1FF72"/>
                </a:solidFill>
                <a:latin typeface="Anonymous Pro"/>
                <a:ea typeface="Anonymous Pro"/>
                <a:cs typeface="Anonymous Pro"/>
                <a:sym typeface="Anonymous Pro"/>
              </a:rPr>
              <a:t>Desarrollador</a:t>
            </a:r>
          </a:p>
        </p:txBody>
      </p:sp>
      <p:sp>
        <p:nvSpPr>
          <p:cNvPr name="TextBox 10" id="10"/>
          <p:cNvSpPr txBox="true"/>
          <p:nvPr/>
        </p:nvSpPr>
        <p:spPr>
          <a:xfrm rot="0">
            <a:off x="1548349" y="5040256"/>
            <a:ext cx="4438087" cy="1609725"/>
          </a:xfrm>
          <a:prstGeom prst="rect">
            <a:avLst/>
          </a:prstGeom>
        </p:spPr>
        <p:txBody>
          <a:bodyPr anchor="t" rtlCol="false" tIns="0" lIns="0" bIns="0" rIns="0">
            <a:spAutoFit/>
          </a:bodyPr>
          <a:lstStyle/>
          <a:p>
            <a:pPr algn="l">
              <a:lnSpc>
                <a:spcPts val="2160"/>
              </a:lnSpc>
            </a:pPr>
            <a:r>
              <a:rPr lang="en-US" sz="1800">
                <a:solidFill>
                  <a:srgbClr val="C1FF72"/>
                </a:solidFill>
                <a:latin typeface="Anonymous Pro"/>
                <a:ea typeface="Anonymous Pro"/>
                <a:cs typeface="Anonymous Pro"/>
                <a:sym typeface="Anonymous Pro"/>
              </a:rPr>
              <a:t>Este es nuestro equipo organizado mediante la metodología Scrum. Los roles necesarios para esta distribución han sido los siguientes: Product Owner, Scrum Master y los desarrolladores.</a:t>
            </a:r>
          </a:p>
        </p:txBody>
      </p:sp>
      <p:sp>
        <p:nvSpPr>
          <p:cNvPr name="TextBox 11" id="11"/>
          <p:cNvSpPr txBox="true"/>
          <p:nvPr/>
        </p:nvSpPr>
        <p:spPr>
          <a:xfrm rot="0">
            <a:off x="15006745" y="4981148"/>
            <a:ext cx="1194786" cy="316230"/>
          </a:xfrm>
          <a:prstGeom prst="rect">
            <a:avLst/>
          </a:prstGeom>
        </p:spPr>
        <p:txBody>
          <a:bodyPr anchor="t" rtlCol="false" tIns="0" lIns="0" bIns="0" rIns="0">
            <a:spAutoFit/>
          </a:bodyPr>
          <a:lstStyle/>
          <a:p>
            <a:pPr algn="l">
              <a:lnSpc>
                <a:spcPts val="2520"/>
              </a:lnSpc>
            </a:pPr>
            <a:r>
              <a:rPr lang="en-US" sz="1800" spc="-36" b="true">
                <a:solidFill>
                  <a:srgbClr val="C1FF72"/>
                </a:solidFill>
                <a:latin typeface="Anonymous Pro Bold"/>
                <a:ea typeface="Anonymous Pro Bold"/>
                <a:cs typeface="Anonymous Pro Bold"/>
                <a:sym typeface="Anonymous Pro Bold"/>
              </a:rPr>
              <a:t>Daniela</a:t>
            </a:r>
          </a:p>
        </p:txBody>
      </p:sp>
      <p:sp>
        <p:nvSpPr>
          <p:cNvPr name="TextBox 12" id="12"/>
          <p:cNvSpPr txBox="true"/>
          <p:nvPr/>
        </p:nvSpPr>
        <p:spPr>
          <a:xfrm rot="0">
            <a:off x="15009630" y="5350096"/>
            <a:ext cx="1673129" cy="316230"/>
          </a:xfrm>
          <a:prstGeom prst="rect">
            <a:avLst/>
          </a:prstGeom>
        </p:spPr>
        <p:txBody>
          <a:bodyPr anchor="t" rtlCol="false" tIns="0" lIns="0" bIns="0" rIns="0">
            <a:spAutoFit/>
          </a:bodyPr>
          <a:lstStyle/>
          <a:p>
            <a:pPr algn="l">
              <a:lnSpc>
                <a:spcPts val="2520"/>
              </a:lnSpc>
            </a:pPr>
            <a:r>
              <a:rPr lang="en-US" sz="1800" spc="-36">
                <a:solidFill>
                  <a:srgbClr val="C1FF72"/>
                </a:solidFill>
                <a:latin typeface="Anonymous Pro"/>
                <a:ea typeface="Anonymous Pro"/>
                <a:cs typeface="Anonymous Pro"/>
                <a:sym typeface="Anonymous Pro"/>
              </a:rPr>
              <a:t>Desarrollador</a:t>
            </a:r>
          </a:p>
        </p:txBody>
      </p:sp>
      <p:sp>
        <p:nvSpPr>
          <p:cNvPr name="TextBox 13" id="13"/>
          <p:cNvSpPr txBox="true"/>
          <p:nvPr/>
        </p:nvSpPr>
        <p:spPr>
          <a:xfrm rot="0">
            <a:off x="8102528" y="5859932"/>
            <a:ext cx="1769965" cy="1076325"/>
          </a:xfrm>
          <a:prstGeom prst="rect">
            <a:avLst/>
          </a:prstGeom>
        </p:spPr>
        <p:txBody>
          <a:bodyPr anchor="t" rtlCol="false" tIns="0" lIns="0" bIns="0" rIns="0">
            <a:spAutoFit/>
          </a:bodyPr>
          <a:lstStyle/>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Manejo del equipo</a:t>
            </a: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Desarrollo </a:t>
            </a:r>
          </a:p>
          <a:p>
            <a:pPr algn="l">
              <a:lnSpc>
                <a:spcPts val="2160"/>
              </a:lnSpc>
            </a:pPr>
          </a:p>
        </p:txBody>
      </p:sp>
      <p:sp>
        <p:nvSpPr>
          <p:cNvPr name="TextBox 14" id="14"/>
          <p:cNvSpPr txBox="true"/>
          <p:nvPr/>
        </p:nvSpPr>
        <p:spPr>
          <a:xfrm rot="0">
            <a:off x="10419983" y="5859932"/>
            <a:ext cx="1887420" cy="1876425"/>
          </a:xfrm>
          <a:prstGeom prst="rect">
            <a:avLst/>
          </a:prstGeom>
        </p:spPr>
        <p:txBody>
          <a:bodyPr anchor="t" rtlCol="false" tIns="0" lIns="0" bIns="0" rIns="0">
            <a:spAutoFit/>
          </a:bodyPr>
          <a:lstStyle/>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Soporte</a:t>
            </a: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Desarrollo</a:t>
            </a: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Colaboración con el Product Owner </a:t>
            </a:r>
          </a:p>
          <a:p>
            <a:pPr algn="l">
              <a:lnSpc>
                <a:spcPts val="2160"/>
              </a:lnSpc>
            </a:pPr>
          </a:p>
        </p:txBody>
      </p:sp>
      <p:sp>
        <p:nvSpPr>
          <p:cNvPr name="TextBox 15" id="15"/>
          <p:cNvSpPr txBox="true"/>
          <p:nvPr/>
        </p:nvSpPr>
        <p:spPr>
          <a:xfrm rot="0">
            <a:off x="12715171" y="5859932"/>
            <a:ext cx="1769965" cy="1343025"/>
          </a:xfrm>
          <a:prstGeom prst="rect">
            <a:avLst/>
          </a:prstGeom>
        </p:spPr>
        <p:txBody>
          <a:bodyPr anchor="t" rtlCol="false" tIns="0" lIns="0" bIns="0" rIns="0">
            <a:spAutoFit/>
          </a:bodyPr>
          <a:lstStyle/>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Desarrollo de la App</a:t>
            </a: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Gestión de memoria </a:t>
            </a:r>
          </a:p>
          <a:p>
            <a:pPr algn="l">
              <a:lnSpc>
                <a:spcPts val="2160"/>
              </a:lnSpc>
            </a:pPr>
          </a:p>
        </p:txBody>
      </p:sp>
      <p:sp>
        <p:nvSpPr>
          <p:cNvPr name="TextBox 16" id="16"/>
          <p:cNvSpPr txBox="true"/>
          <p:nvPr/>
        </p:nvSpPr>
        <p:spPr>
          <a:xfrm rot="0">
            <a:off x="15009630" y="5859932"/>
            <a:ext cx="1769965" cy="1343025"/>
          </a:xfrm>
          <a:prstGeom prst="rect">
            <a:avLst/>
          </a:prstGeom>
        </p:spPr>
        <p:txBody>
          <a:bodyPr anchor="t" rtlCol="false" tIns="0" lIns="0" bIns="0" rIns="0">
            <a:spAutoFit/>
          </a:bodyPr>
          <a:lstStyle/>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Desarrollo de la App</a:t>
            </a: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Gestión de memoria </a:t>
            </a:r>
          </a:p>
          <a:p>
            <a:pPr algn="l">
              <a:lnSpc>
                <a:spcPts val="2160"/>
              </a:lnSpc>
            </a:pPr>
          </a:p>
        </p:txBody>
      </p:sp>
      <p:sp>
        <p:nvSpPr>
          <p:cNvPr name="Freeform 17" id="17"/>
          <p:cNvSpPr/>
          <p:nvPr/>
        </p:nvSpPr>
        <p:spPr>
          <a:xfrm flipH="false" flipV="false" rot="0">
            <a:off x="901716" y="2594445"/>
            <a:ext cx="6278476" cy="2089020"/>
          </a:xfrm>
          <a:custGeom>
            <a:avLst/>
            <a:gdLst/>
            <a:ahLst/>
            <a:cxnLst/>
            <a:rect r="r" b="b" t="t" l="l"/>
            <a:pathLst>
              <a:path h="2089020" w="6278476">
                <a:moveTo>
                  <a:pt x="0" y="0"/>
                </a:moveTo>
                <a:lnTo>
                  <a:pt x="6278476" y="0"/>
                </a:lnTo>
                <a:lnTo>
                  <a:pt x="6278476" y="2089020"/>
                </a:lnTo>
                <a:lnTo>
                  <a:pt x="0" y="2089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8" id="18"/>
          <p:cNvSpPr txBox="true"/>
          <p:nvPr/>
        </p:nvSpPr>
        <p:spPr>
          <a:xfrm rot="0">
            <a:off x="1548349" y="3367558"/>
            <a:ext cx="5175098" cy="685407"/>
          </a:xfrm>
          <a:prstGeom prst="rect">
            <a:avLst/>
          </a:prstGeom>
        </p:spPr>
        <p:txBody>
          <a:bodyPr anchor="t" rtlCol="false" tIns="0" lIns="0" bIns="0" rIns="0">
            <a:spAutoFit/>
          </a:bodyPr>
          <a:lstStyle/>
          <a:p>
            <a:pPr algn="ctr">
              <a:lnSpc>
                <a:spcPts val="4802"/>
              </a:lnSpc>
            </a:pPr>
            <a:r>
              <a:rPr lang="en-US" sz="5457">
                <a:solidFill>
                  <a:srgbClr val="C1FF72"/>
                </a:solidFill>
                <a:latin typeface="Anonymous Pro"/>
                <a:ea typeface="Anonymous Pro"/>
                <a:cs typeface="Anonymous Pro"/>
                <a:sym typeface="Anonymous Pro"/>
              </a:rPr>
              <a:t>PRESENTACIÓN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944100" y="3050053"/>
            <a:ext cx="7315200" cy="2433967"/>
          </a:xfrm>
          <a:custGeom>
            <a:avLst/>
            <a:gdLst/>
            <a:ahLst/>
            <a:cxnLst/>
            <a:rect r="r" b="b" t="t" l="l"/>
            <a:pathLst>
              <a:path h="2433967" w="7315200">
                <a:moveTo>
                  <a:pt x="0" y="0"/>
                </a:moveTo>
                <a:lnTo>
                  <a:pt x="7315200" y="0"/>
                </a:lnTo>
                <a:lnTo>
                  <a:pt x="7315200" y="2433967"/>
                </a:lnTo>
                <a:lnTo>
                  <a:pt x="0" y="243396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399132"/>
            <a:ext cx="7587575" cy="6859168"/>
            <a:chOff x="0" y="0"/>
            <a:chExt cx="6350000" cy="5740400"/>
          </a:xfrm>
        </p:grpSpPr>
        <p:sp>
          <p:nvSpPr>
            <p:cNvPr name="Freeform 5" id="5"/>
            <p:cNvSpPr/>
            <p:nvPr/>
          </p:nvSpPr>
          <p:spPr>
            <a:xfrm flipH="false" flipV="false" rot="0">
              <a:off x="0" y="0"/>
              <a:ext cx="6351270" cy="5741670"/>
            </a:xfrm>
            <a:custGeom>
              <a:avLst/>
              <a:gdLst/>
              <a:ahLst/>
              <a:cxnLst/>
              <a:rect r="r" b="b" t="t" l="l"/>
              <a:pathLst>
                <a:path h="5741670" w="63512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5"/>
              <a:stretch>
                <a:fillRect l="-25334" t="0" r="-25334" b="0"/>
              </a:stretch>
            </a:blipFill>
          </p:spPr>
        </p:sp>
      </p:grpSp>
      <p:sp>
        <p:nvSpPr>
          <p:cNvPr name="TextBox 6" id="6"/>
          <p:cNvSpPr txBox="true"/>
          <p:nvPr/>
        </p:nvSpPr>
        <p:spPr>
          <a:xfrm rot="0">
            <a:off x="10952201" y="3762045"/>
            <a:ext cx="5248174" cy="1171194"/>
          </a:xfrm>
          <a:prstGeom prst="rect">
            <a:avLst/>
          </a:prstGeom>
        </p:spPr>
        <p:txBody>
          <a:bodyPr anchor="t" rtlCol="false" tIns="0" lIns="0" bIns="0" rIns="0">
            <a:spAutoFit/>
          </a:bodyPr>
          <a:lstStyle/>
          <a:p>
            <a:pPr algn="ctr">
              <a:lnSpc>
                <a:spcPts val="8448"/>
              </a:lnSpc>
            </a:pPr>
            <a:r>
              <a:rPr lang="en-US" sz="9600">
                <a:solidFill>
                  <a:srgbClr val="C1FF72"/>
                </a:solidFill>
                <a:latin typeface="Anonymous Pro"/>
                <a:ea typeface="Anonymous Pro"/>
                <a:cs typeface="Anonymous Pro"/>
                <a:sym typeface="Anonymous Pro"/>
              </a:rPr>
              <a:t>MERCADO</a:t>
            </a:r>
          </a:p>
        </p:txBody>
      </p:sp>
      <p:sp>
        <p:nvSpPr>
          <p:cNvPr name="TextBox 7" id="7"/>
          <p:cNvSpPr txBox="true"/>
          <p:nvPr/>
        </p:nvSpPr>
        <p:spPr>
          <a:xfrm rot="0">
            <a:off x="9944100" y="6315075"/>
            <a:ext cx="7315200" cy="1876425"/>
          </a:xfrm>
          <a:prstGeom prst="rect">
            <a:avLst/>
          </a:prstGeom>
        </p:spPr>
        <p:txBody>
          <a:bodyPr anchor="t" rtlCol="false" tIns="0" lIns="0" bIns="0" rIns="0">
            <a:spAutoFit/>
          </a:bodyPr>
          <a:lstStyle/>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La App está orientada a usuarios principiantes en Criptomonedas que deseen utilizar una interfaz rápida y sencilla. Muchas aplicaciones de criptomonedas son complejas o tienen interfaces poco intuitivas, con la nuestra el usuario tendrá soporte multi idioma, todo en una sola App, seguridad de acceso, y una experiencia visual moderna orientada al aprendizaje.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253698" y="2653692"/>
            <a:ext cx="2860631" cy="6356958"/>
          </a:xfrm>
          <a:custGeom>
            <a:avLst/>
            <a:gdLst/>
            <a:ahLst/>
            <a:cxnLst/>
            <a:rect r="r" b="b" t="t" l="l"/>
            <a:pathLst>
              <a:path h="6356958" w="2860631">
                <a:moveTo>
                  <a:pt x="0" y="0"/>
                </a:moveTo>
                <a:lnTo>
                  <a:pt x="2860632" y="0"/>
                </a:lnTo>
                <a:lnTo>
                  <a:pt x="2860632" y="6356958"/>
                </a:lnTo>
                <a:lnTo>
                  <a:pt x="0" y="6356958"/>
                </a:lnTo>
                <a:lnTo>
                  <a:pt x="0" y="0"/>
                </a:lnTo>
                <a:close/>
              </a:path>
            </a:pathLst>
          </a:custGeom>
          <a:blipFill>
            <a:blip r:embed="rId3"/>
            <a:stretch>
              <a:fillRect l="0" t="0" r="0" b="0"/>
            </a:stretch>
          </a:blipFill>
        </p:spPr>
      </p:sp>
      <p:sp>
        <p:nvSpPr>
          <p:cNvPr name="Freeform 4" id="4"/>
          <p:cNvSpPr/>
          <p:nvPr/>
        </p:nvSpPr>
        <p:spPr>
          <a:xfrm flipH="false" flipV="false" rot="0">
            <a:off x="4398178" y="2653692"/>
            <a:ext cx="2892416" cy="6356958"/>
          </a:xfrm>
          <a:custGeom>
            <a:avLst/>
            <a:gdLst/>
            <a:ahLst/>
            <a:cxnLst/>
            <a:rect r="r" b="b" t="t" l="l"/>
            <a:pathLst>
              <a:path h="6356958" w="2892416">
                <a:moveTo>
                  <a:pt x="0" y="0"/>
                </a:moveTo>
                <a:lnTo>
                  <a:pt x="2892415" y="0"/>
                </a:lnTo>
                <a:lnTo>
                  <a:pt x="2892415" y="6356958"/>
                </a:lnTo>
                <a:lnTo>
                  <a:pt x="0" y="6356958"/>
                </a:lnTo>
                <a:lnTo>
                  <a:pt x="0" y="0"/>
                </a:lnTo>
                <a:close/>
              </a:path>
            </a:pathLst>
          </a:custGeom>
          <a:blipFill>
            <a:blip r:embed="rId4"/>
            <a:stretch>
              <a:fillRect l="0" t="0" r="0" b="0"/>
            </a:stretch>
          </a:blipFill>
        </p:spPr>
      </p:sp>
      <p:sp>
        <p:nvSpPr>
          <p:cNvPr name="TextBox 5" id="5"/>
          <p:cNvSpPr txBox="true"/>
          <p:nvPr/>
        </p:nvSpPr>
        <p:spPr>
          <a:xfrm rot="0">
            <a:off x="8481663" y="2803899"/>
            <a:ext cx="9531302" cy="1171194"/>
          </a:xfrm>
          <a:prstGeom prst="rect">
            <a:avLst/>
          </a:prstGeom>
        </p:spPr>
        <p:txBody>
          <a:bodyPr anchor="t" rtlCol="false" tIns="0" lIns="0" bIns="0" rIns="0">
            <a:spAutoFit/>
          </a:bodyPr>
          <a:lstStyle/>
          <a:p>
            <a:pPr algn="l">
              <a:lnSpc>
                <a:spcPts val="8448"/>
              </a:lnSpc>
            </a:pPr>
            <a:r>
              <a:rPr lang="en-US" sz="9600">
                <a:solidFill>
                  <a:srgbClr val="C1FF72"/>
                </a:solidFill>
                <a:latin typeface="Anonymous Pro"/>
                <a:ea typeface="Anonymous Pro"/>
                <a:cs typeface="Anonymous Pro"/>
                <a:sym typeface="Anonymous Pro"/>
              </a:rPr>
              <a:t>FUNCIONAMIENTO</a:t>
            </a:r>
          </a:p>
        </p:txBody>
      </p:sp>
      <p:sp>
        <p:nvSpPr>
          <p:cNvPr name="TextBox 6" id="6"/>
          <p:cNvSpPr txBox="true"/>
          <p:nvPr/>
        </p:nvSpPr>
        <p:spPr>
          <a:xfrm rot="0">
            <a:off x="8981071" y="4467225"/>
            <a:ext cx="8278229" cy="4543425"/>
          </a:xfrm>
          <a:prstGeom prst="rect">
            <a:avLst/>
          </a:prstGeom>
        </p:spPr>
        <p:txBody>
          <a:bodyPr anchor="t" rtlCol="false" tIns="0" lIns="0" bIns="0" rIns="0">
            <a:spAutoFit/>
          </a:bodyPr>
          <a:lstStyle/>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Autenticación de usuarios: Permite el registro de nuevos usuarios y el inicio de sesión, incluyendo Face ID.</a:t>
            </a:r>
          </a:p>
          <a:p>
            <a:pPr algn="l">
              <a:lnSpc>
                <a:spcPts val="2160"/>
              </a:lnSpc>
            </a:pP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Pantalla principal: Muestra información general del mercado y facilita la consulta de criptomonedas.</a:t>
            </a:r>
          </a:p>
          <a:p>
            <a:pPr algn="l">
              <a:lnSpc>
                <a:spcPts val="2160"/>
              </a:lnSpc>
            </a:pP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Billetera: Permite visualizar el saldo total y los activos disponibles.</a:t>
            </a:r>
          </a:p>
          <a:p>
            <a:pPr algn="l">
              <a:lnSpc>
                <a:spcPts val="2160"/>
              </a:lnSpc>
            </a:pP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Gestión de transacciones: Ofrece la consulta del historial de movimientos y realización de transferencias.</a:t>
            </a:r>
          </a:p>
          <a:p>
            <a:pPr algn="l">
              <a:lnSpc>
                <a:spcPts val="2160"/>
              </a:lnSpc>
            </a:pP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Sección de noticias: Proporciona acceso a noticias relacionadas con el mercado de criptomonedas.</a:t>
            </a:r>
          </a:p>
          <a:p>
            <a:pPr algn="l">
              <a:lnSpc>
                <a:spcPts val="2160"/>
              </a:lnSpc>
            </a:pPr>
          </a:p>
          <a:p>
            <a:pPr algn="l" marL="388622" indent="-194311" lvl="1">
              <a:lnSpc>
                <a:spcPts val="2160"/>
              </a:lnSpc>
              <a:buFont typeface="Arial"/>
              <a:buChar char="•"/>
            </a:pPr>
            <a:r>
              <a:rPr lang="en-US" sz="1800">
                <a:solidFill>
                  <a:srgbClr val="C1FF72"/>
                </a:solidFill>
                <a:latin typeface="Anonymous Pro"/>
                <a:ea typeface="Anonymous Pro"/>
                <a:cs typeface="Anonymous Pro"/>
                <a:sym typeface="Anonymous Pro"/>
              </a:rPr>
              <a:t>Perfil de usuario: Permite editar datos personales y configurar preferencias, como modo oscuro/claro, tipo de moneda o idioma.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9170603" y="2291068"/>
            <a:ext cx="8088697" cy="2691330"/>
          </a:xfrm>
          <a:custGeom>
            <a:avLst/>
            <a:gdLst/>
            <a:ahLst/>
            <a:cxnLst/>
            <a:rect r="r" b="b" t="t" l="l"/>
            <a:pathLst>
              <a:path h="2691330" w="8088697">
                <a:moveTo>
                  <a:pt x="0" y="0"/>
                </a:moveTo>
                <a:lnTo>
                  <a:pt x="8088697" y="0"/>
                </a:lnTo>
                <a:lnTo>
                  <a:pt x="8088697" y="2691330"/>
                </a:lnTo>
                <a:lnTo>
                  <a:pt x="0" y="26913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2291068"/>
            <a:ext cx="6686735" cy="6967232"/>
            <a:chOff x="0" y="0"/>
            <a:chExt cx="6094352" cy="6350000"/>
          </a:xfrm>
        </p:grpSpPr>
        <p:sp>
          <p:nvSpPr>
            <p:cNvPr name="Freeform 5" id="5"/>
            <p:cNvSpPr/>
            <p:nvPr/>
          </p:nvSpPr>
          <p:spPr>
            <a:xfrm flipH="false" flipV="false" rot="0">
              <a:off x="0" y="0"/>
              <a:ext cx="6095623" cy="6350000"/>
            </a:xfrm>
            <a:custGeom>
              <a:avLst/>
              <a:gdLst/>
              <a:ahLst/>
              <a:cxnLst/>
              <a:rect r="r" b="b" t="t" l="l"/>
              <a:pathLst>
                <a:path h="6350000" w="6095623">
                  <a:moveTo>
                    <a:pt x="5744537" y="0"/>
                  </a:moveTo>
                  <a:lnTo>
                    <a:pt x="349816" y="0"/>
                  </a:lnTo>
                  <a:cubicBezTo>
                    <a:pt x="156015" y="0"/>
                    <a:pt x="0" y="162560"/>
                    <a:pt x="0" y="364490"/>
                  </a:cubicBezTo>
                  <a:lnTo>
                    <a:pt x="0" y="5986780"/>
                  </a:lnTo>
                  <a:cubicBezTo>
                    <a:pt x="0" y="6187440"/>
                    <a:pt x="156015" y="6350000"/>
                    <a:pt x="349816" y="6350000"/>
                  </a:cubicBezTo>
                  <a:lnTo>
                    <a:pt x="5745756" y="6350000"/>
                  </a:lnTo>
                  <a:cubicBezTo>
                    <a:pt x="5938337" y="6350000"/>
                    <a:pt x="6095623" y="6187440"/>
                    <a:pt x="6095623" y="5985510"/>
                  </a:cubicBezTo>
                  <a:lnTo>
                    <a:pt x="6095623" y="364490"/>
                  </a:lnTo>
                  <a:cubicBezTo>
                    <a:pt x="6094352" y="162560"/>
                    <a:pt x="5938337" y="0"/>
                    <a:pt x="5744537" y="0"/>
                  </a:cubicBezTo>
                  <a:close/>
                </a:path>
              </a:pathLst>
            </a:custGeom>
            <a:blipFill>
              <a:blip r:embed="rId5"/>
              <a:stretch>
                <a:fillRect l="-43906" t="0" r="-12451" b="0"/>
              </a:stretch>
            </a:blipFill>
          </p:spPr>
        </p:sp>
      </p:grpSp>
      <p:sp>
        <p:nvSpPr>
          <p:cNvPr name="TextBox 6" id="6"/>
          <p:cNvSpPr txBox="true"/>
          <p:nvPr/>
        </p:nvSpPr>
        <p:spPr>
          <a:xfrm rot="0">
            <a:off x="9814909" y="3269377"/>
            <a:ext cx="6800084" cy="972836"/>
          </a:xfrm>
          <a:prstGeom prst="rect">
            <a:avLst/>
          </a:prstGeom>
        </p:spPr>
        <p:txBody>
          <a:bodyPr anchor="t" rtlCol="false" tIns="0" lIns="0" bIns="0" rIns="0">
            <a:spAutoFit/>
          </a:bodyPr>
          <a:lstStyle/>
          <a:p>
            <a:pPr algn="ctr">
              <a:lnSpc>
                <a:spcPts val="7040"/>
              </a:lnSpc>
            </a:pPr>
            <a:r>
              <a:rPr lang="en-US" sz="8000">
                <a:solidFill>
                  <a:srgbClr val="C1FF72"/>
                </a:solidFill>
                <a:latin typeface="Anonymous Pro"/>
                <a:ea typeface="Anonymous Pro"/>
                <a:cs typeface="Anonymous Pro"/>
                <a:sym typeface="Anonymous Pro"/>
              </a:rPr>
              <a:t>ARQUITECTURA</a:t>
            </a:r>
          </a:p>
        </p:txBody>
      </p:sp>
      <p:sp>
        <p:nvSpPr>
          <p:cNvPr name="TextBox 7" id="7"/>
          <p:cNvSpPr txBox="true"/>
          <p:nvPr/>
        </p:nvSpPr>
        <p:spPr>
          <a:xfrm rot="0">
            <a:off x="9631455" y="6048375"/>
            <a:ext cx="7166993" cy="2676525"/>
          </a:xfrm>
          <a:prstGeom prst="rect">
            <a:avLst/>
          </a:prstGeom>
        </p:spPr>
        <p:txBody>
          <a:bodyPr anchor="t" rtlCol="false" tIns="0" lIns="0" bIns="0" rIns="0">
            <a:spAutoFit/>
          </a:bodyPr>
          <a:lstStyle/>
          <a:p>
            <a:pPr algn="l">
              <a:lnSpc>
                <a:spcPts val="2160"/>
              </a:lnSpc>
            </a:pPr>
            <a:r>
              <a:rPr lang="en-US" sz="1800">
                <a:solidFill>
                  <a:srgbClr val="C1FF72"/>
                </a:solidFill>
                <a:latin typeface="Anonymous Pro"/>
                <a:ea typeface="Anonymous Pro"/>
                <a:cs typeface="Anonymous Pro"/>
                <a:sym typeface="Anonymous Pro"/>
              </a:rPr>
              <a:t>La aplicación CryptoBit sigue una arquitectura cliente-servidor desacoplada. El frontend, desarrollado en React Native (Expo), gestiona la interfaz y la interacción con el usuario, mientras que el backend, desarrollado en Java, se encarga de la lógica de negocio y la gestión de datos. La comunicación se realiza mediante una API REST utilizando peticiones HTTP (GET, POST, DELETE) en formato JSON. La base de datos MongoDB almacena la información de usuarios, transacciones y cartera, garantizando seguridad mediante el cifrado hash de contraseñas.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28700" y="8033602"/>
            <a:ext cx="483157" cy="483157"/>
          </a:xfrm>
          <a:custGeom>
            <a:avLst/>
            <a:gdLst/>
            <a:ahLst/>
            <a:cxnLst/>
            <a:rect r="r" b="b" t="t" l="l"/>
            <a:pathLst>
              <a:path h="483157" w="483157">
                <a:moveTo>
                  <a:pt x="0" y="0"/>
                </a:moveTo>
                <a:lnTo>
                  <a:pt x="483157" y="0"/>
                </a:lnTo>
                <a:lnTo>
                  <a:pt x="483157" y="483157"/>
                </a:lnTo>
                <a:lnTo>
                  <a:pt x="0" y="483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4601757"/>
            <a:ext cx="7660708" cy="1171194"/>
          </a:xfrm>
          <a:prstGeom prst="rect">
            <a:avLst/>
          </a:prstGeom>
        </p:spPr>
        <p:txBody>
          <a:bodyPr anchor="t" rtlCol="false" tIns="0" lIns="0" bIns="0" rIns="0">
            <a:spAutoFit/>
          </a:bodyPr>
          <a:lstStyle/>
          <a:p>
            <a:pPr algn="l">
              <a:lnSpc>
                <a:spcPts val="8448"/>
              </a:lnSpc>
            </a:pPr>
            <a:r>
              <a:rPr lang="en-US" sz="9600">
                <a:solidFill>
                  <a:srgbClr val="C1FF72"/>
                </a:solidFill>
                <a:latin typeface="Anonymous Pro"/>
                <a:ea typeface="Anonymous Pro"/>
                <a:cs typeface="Anonymous Pro"/>
                <a:sym typeface="Anonymous Pro"/>
              </a:rPr>
              <a:t>CONTACTO</a:t>
            </a:r>
          </a:p>
        </p:txBody>
      </p:sp>
      <p:sp>
        <p:nvSpPr>
          <p:cNvPr name="TextBox 5" id="5"/>
          <p:cNvSpPr txBox="true"/>
          <p:nvPr/>
        </p:nvSpPr>
        <p:spPr>
          <a:xfrm rot="0">
            <a:off x="1864916" y="8127162"/>
            <a:ext cx="3439267" cy="293751"/>
          </a:xfrm>
          <a:prstGeom prst="rect">
            <a:avLst/>
          </a:prstGeom>
        </p:spPr>
        <p:txBody>
          <a:bodyPr anchor="t" rtlCol="false" tIns="0" lIns="0" bIns="0" rIns="0">
            <a:spAutoFit/>
          </a:bodyPr>
          <a:lstStyle/>
          <a:p>
            <a:pPr algn="l">
              <a:lnSpc>
                <a:spcPts val="2322"/>
              </a:lnSpc>
            </a:pPr>
            <a:r>
              <a:rPr lang="en-US" sz="1800" spc="-36">
                <a:solidFill>
                  <a:srgbClr val="C1FF72"/>
                </a:solidFill>
                <a:latin typeface="Anonymous Pro"/>
                <a:ea typeface="Anonymous Pro"/>
                <a:cs typeface="Anonymous Pro"/>
                <a:sym typeface="Anonymous Pro"/>
              </a:rPr>
              <a:t>cafebo@alumnatflorida.es</a:t>
            </a:r>
          </a:p>
        </p:txBody>
      </p:sp>
      <p:sp>
        <p:nvSpPr>
          <p:cNvPr name="Freeform 6" id="6"/>
          <p:cNvSpPr/>
          <p:nvPr/>
        </p:nvSpPr>
        <p:spPr>
          <a:xfrm flipH="false" flipV="false" rot="0">
            <a:off x="1028700" y="7324670"/>
            <a:ext cx="483157" cy="483157"/>
          </a:xfrm>
          <a:custGeom>
            <a:avLst/>
            <a:gdLst/>
            <a:ahLst/>
            <a:cxnLst/>
            <a:rect r="r" b="b" t="t" l="l"/>
            <a:pathLst>
              <a:path h="483157" w="483157">
                <a:moveTo>
                  <a:pt x="0" y="0"/>
                </a:moveTo>
                <a:lnTo>
                  <a:pt x="483157" y="0"/>
                </a:lnTo>
                <a:lnTo>
                  <a:pt x="483157" y="483157"/>
                </a:lnTo>
                <a:lnTo>
                  <a:pt x="0" y="483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64916" y="7418230"/>
            <a:ext cx="3439267" cy="293751"/>
          </a:xfrm>
          <a:prstGeom prst="rect">
            <a:avLst/>
          </a:prstGeom>
        </p:spPr>
        <p:txBody>
          <a:bodyPr anchor="t" rtlCol="false" tIns="0" lIns="0" bIns="0" rIns="0">
            <a:spAutoFit/>
          </a:bodyPr>
          <a:lstStyle/>
          <a:p>
            <a:pPr algn="l">
              <a:lnSpc>
                <a:spcPts val="2322"/>
              </a:lnSpc>
            </a:pPr>
            <a:r>
              <a:rPr lang="en-US" sz="1800" spc="-36">
                <a:solidFill>
                  <a:srgbClr val="C1FF72"/>
                </a:solidFill>
                <a:latin typeface="Anonymous Pro"/>
                <a:ea typeface="Anonymous Pro"/>
                <a:cs typeface="Anonymous Pro"/>
                <a:sym typeface="Anonymous Pro"/>
              </a:rPr>
              <a:t>geanba@alumnatflorida.es</a:t>
            </a:r>
          </a:p>
        </p:txBody>
      </p:sp>
      <p:sp>
        <p:nvSpPr>
          <p:cNvPr name="Freeform 8" id="8"/>
          <p:cNvSpPr/>
          <p:nvPr/>
        </p:nvSpPr>
        <p:spPr>
          <a:xfrm flipH="false" flipV="false" rot="0">
            <a:off x="1028700" y="8745359"/>
            <a:ext cx="483157" cy="483157"/>
          </a:xfrm>
          <a:custGeom>
            <a:avLst/>
            <a:gdLst/>
            <a:ahLst/>
            <a:cxnLst/>
            <a:rect r="r" b="b" t="t" l="l"/>
            <a:pathLst>
              <a:path h="483157" w="483157">
                <a:moveTo>
                  <a:pt x="0" y="0"/>
                </a:moveTo>
                <a:lnTo>
                  <a:pt x="483157" y="0"/>
                </a:lnTo>
                <a:lnTo>
                  <a:pt x="483157" y="483157"/>
                </a:lnTo>
                <a:lnTo>
                  <a:pt x="0" y="483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864916" y="8838919"/>
            <a:ext cx="3439267" cy="293751"/>
          </a:xfrm>
          <a:prstGeom prst="rect">
            <a:avLst/>
          </a:prstGeom>
        </p:spPr>
        <p:txBody>
          <a:bodyPr anchor="t" rtlCol="false" tIns="0" lIns="0" bIns="0" rIns="0">
            <a:spAutoFit/>
          </a:bodyPr>
          <a:lstStyle/>
          <a:p>
            <a:pPr algn="l">
              <a:lnSpc>
                <a:spcPts val="2322"/>
              </a:lnSpc>
            </a:pPr>
            <a:r>
              <a:rPr lang="en-US" sz="1800" spc="-36">
                <a:solidFill>
                  <a:srgbClr val="C1FF72"/>
                </a:solidFill>
                <a:latin typeface="Anonymous Pro"/>
                <a:ea typeface="Anonymous Pro"/>
                <a:cs typeface="Anonymous Pro"/>
                <a:sym typeface="Anonymous Pro"/>
              </a:rPr>
              <a:t>daarro@alumnatflorida.es</a:t>
            </a:r>
          </a:p>
        </p:txBody>
      </p:sp>
      <p:sp>
        <p:nvSpPr>
          <p:cNvPr name="Freeform 10" id="10"/>
          <p:cNvSpPr/>
          <p:nvPr/>
        </p:nvSpPr>
        <p:spPr>
          <a:xfrm flipH="false" flipV="false" rot="0">
            <a:off x="1028700" y="6661698"/>
            <a:ext cx="483157" cy="483157"/>
          </a:xfrm>
          <a:custGeom>
            <a:avLst/>
            <a:gdLst/>
            <a:ahLst/>
            <a:cxnLst/>
            <a:rect r="r" b="b" t="t" l="l"/>
            <a:pathLst>
              <a:path h="483157" w="483157">
                <a:moveTo>
                  <a:pt x="0" y="0"/>
                </a:moveTo>
                <a:lnTo>
                  <a:pt x="483157" y="0"/>
                </a:lnTo>
                <a:lnTo>
                  <a:pt x="483157" y="483157"/>
                </a:lnTo>
                <a:lnTo>
                  <a:pt x="0" y="4831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864916" y="6755258"/>
            <a:ext cx="3439267" cy="293751"/>
          </a:xfrm>
          <a:prstGeom prst="rect">
            <a:avLst/>
          </a:prstGeom>
        </p:spPr>
        <p:txBody>
          <a:bodyPr anchor="t" rtlCol="false" tIns="0" lIns="0" bIns="0" rIns="0">
            <a:spAutoFit/>
          </a:bodyPr>
          <a:lstStyle/>
          <a:p>
            <a:pPr algn="l">
              <a:lnSpc>
                <a:spcPts val="2322"/>
              </a:lnSpc>
            </a:pPr>
            <a:r>
              <a:rPr lang="en-US" sz="1800" spc="-36">
                <a:solidFill>
                  <a:srgbClr val="C1FF72"/>
                </a:solidFill>
                <a:latin typeface="Anonymous Pro"/>
                <a:ea typeface="Anonymous Pro"/>
                <a:cs typeface="Anonymous Pro"/>
                <a:sym typeface="Anonymous Pro"/>
              </a:rPr>
              <a:t>dabela@alumnatflorida.es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360660" y="3718937"/>
            <a:ext cx="11566680" cy="2553852"/>
          </a:xfrm>
          <a:prstGeom prst="rect">
            <a:avLst/>
          </a:prstGeom>
        </p:spPr>
        <p:txBody>
          <a:bodyPr anchor="t" rtlCol="false" tIns="0" lIns="0" bIns="0" rIns="0">
            <a:spAutoFit/>
          </a:bodyPr>
          <a:lstStyle/>
          <a:p>
            <a:pPr algn="ctr">
              <a:lnSpc>
                <a:spcPts val="20828"/>
              </a:lnSpc>
              <a:spcBef>
                <a:spcPct val="0"/>
              </a:spcBef>
            </a:pPr>
            <a:r>
              <a:rPr lang="en-US" sz="14877">
                <a:solidFill>
                  <a:srgbClr val="C1FF72"/>
                </a:solidFill>
                <a:latin typeface="Anonymous Pro"/>
                <a:ea typeface="Anonymous Pro"/>
                <a:cs typeface="Anonymous Pro"/>
                <a:sym typeface="Anonymous Pro"/>
              </a:rPr>
              <a:t>GRACIAS</a:t>
            </a:r>
          </a:p>
        </p:txBody>
      </p:sp>
      <p:sp>
        <p:nvSpPr>
          <p:cNvPr name="Freeform 4" id="4"/>
          <p:cNvSpPr/>
          <p:nvPr/>
        </p:nvSpPr>
        <p:spPr>
          <a:xfrm flipH="false" flipV="false" rot="0">
            <a:off x="2795345" y="3092795"/>
            <a:ext cx="3423515" cy="2798724"/>
          </a:xfrm>
          <a:custGeom>
            <a:avLst/>
            <a:gdLst/>
            <a:ahLst/>
            <a:cxnLst/>
            <a:rect r="r" b="b" t="t" l="l"/>
            <a:pathLst>
              <a:path h="2798724" w="3423515">
                <a:moveTo>
                  <a:pt x="0" y="0"/>
                </a:moveTo>
                <a:lnTo>
                  <a:pt x="3423516" y="0"/>
                </a:lnTo>
                <a:lnTo>
                  <a:pt x="3423516" y="2798724"/>
                </a:lnTo>
                <a:lnTo>
                  <a:pt x="0" y="2798724"/>
                </a:lnTo>
                <a:lnTo>
                  <a:pt x="0" y="0"/>
                </a:lnTo>
                <a:close/>
              </a:path>
            </a:pathLst>
          </a:custGeom>
          <a:blipFill>
            <a:blip r:embed="rId3"/>
            <a:stretch>
              <a:fillRect l="0" t="0" r="0" b="0"/>
            </a:stretch>
          </a:blipFill>
        </p:spPr>
      </p:sp>
      <p:sp>
        <p:nvSpPr>
          <p:cNvPr name="Freeform 5" id="5"/>
          <p:cNvSpPr/>
          <p:nvPr/>
        </p:nvSpPr>
        <p:spPr>
          <a:xfrm flipH="true" flipV="false" rot="0">
            <a:off x="12069139" y="3092795"/>
            <a:ext cx="3423515" cy="2798724"/>
          </a:xfrm>
          <a:custGeom>
            <a:avLst/>
            <a:gdLst/>
            <a:ahLst/>
            <a:cxnLst/>
            <a:rect r="r" b="b" t="t" l="l"/>
            <a:pathLst>
              <a:path h="2798724" w="3423515">
                <a:moveTo>
                  <a:pt x="3423516" y="0"/>
                </a:moveTo>
                <a:lnTo>
                  <a:pt x="0" y="0"/>
                </a:lnTo>
                <a:lnTo>
                  <a:pt x="0" y="2798724"/>
                </a:lnTo>
                <a:lnTo>
                  <a:pt x="3423516" y="2798724"/>
                </a:lnTo>
                <a:lnTo>
                  <a:pt x="3423516" y="0"/>
                </a:lnTo>
                <a:close/>
              </a:path>
            </a:pathLst>
          </a:custGeom>
          <a:blipFill>
            <a:blip r:embed="rId3"/>
            <a:stretch>
              <a:fillRect l="0" t="0" r="0" b="0"/>
            </a:stretch>
          </a:blipFill>
        </p:spPr>
      </p:sp>
      <p:sp>
        <p:nvSpPr>
          <p:cNvPr name="Freeform 6" id="6"/>
          <p:cNvSpPr/>
          <p:nvPr/>
        </p:nvSpPr>
        <p:spPr>
          <a:xfrm flipH="false" flipV="false" rot="0">
            <a:off x="1028700" y="5063866"/>
            <a:ext cx="637073" cy="159268"/>
          </a:xfrm>
          <a:custGeom>
            <a:avLst/>
            <a:gdLst/>
            <a:ahLst/>
            <a:cxnLst/>
            <a:rect r="r" b="b" t="t" l="l"/>
            <a:pathLst>
              <a:path h="159268" w="637073">
                <a:moveTo>
                  <a:pt x="0" y="0"/>
                </a:moveTo>
                <a:lnTo>
                  <a:pt x="637073" y="0"/>
                </a:lnTo>
                <a:lnTo>
                  <a:pt x="637073" y="159268"/>
                </a:lnTo>
                <a:lnTo>
                  <a:pt x="0" y="159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622227" y="5063866"/>
            <a:ext cx="637073" cy="159268"/>
          </a:xfrm>
          <a:custGeom>
            <a:avLst/>
            <a:gdLst/>
            <a:ahLst/>
            <a:cxnLst/>
            <a:rect r="r" b="b" t="t" l="l"/>
            <a:pathLst>
              <a:path h="159268" w="637073">
                <a:moveTo>
                  <a:pt x="0" y="0"/>
                </a:moveTo>
                <a:lnTo>
                  <a:pt x="637073" y="0"/>
                </a:lnTo>
                <a:lnTo>
                  <a:pt x="637073" y="159268"/>
                </a:lnTo>
                <a:lnTo>
                  <a:pt x="0" y="1592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944100" y="8180971"/>
            <a:ext cx="7315200" cy="1077329"/>
          </a:xfrm>
          <a:custGeom>
            <a:avLst/>
            <a:gdLst/>
            <a:ahLst/>
            <a:cxnLst/>
            <a:rect r="r" b="b" t="t" l="l"/>
            <a:pathLst>
              <a:path h="1077329" w="7315200">
                <a:moveTo>
                  <a:pt x="0" y="0"/>
                </a:moveTo>
                <a:lnTo>
                  <a:pt x="7315200" y="0"/>
                </a:lnTo>
                <a:lnTo>
                  <a:pt x="7315200" y="1077329"/>
                </a:lnTo>
                <a:lnTo>
                  <a:pt x="0" y="10773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12942984" y="981075"/>
            <a:ext cx="1011010" cy="332740"/>
          </a:xfrm>
          <a:prstGeom prst="rect">
            <a:avLst/>
          </a:prstGeom>
        </p:spPr>
        <p:txBody>
          <a:bodyPr anchor="t" rtlCol="false" tIns="0" lIns="0" bIns="0" rIns="0">
            <a:spAutoFit/>
          </a:bodyPr>
          <a:lstStyle/>
          <a:p>
            <a:pPr algn="ctr">
              <a:lnSpc>
                <a:spcPts val="2660"/>
              </a:lnSpc>
              <a:spcBef>
                <a:spcPct val="0"/>
              </a:spcBef>
            </a:pPr>
            <a:r>
              <a:rPr lang="en-US" sz="1900">
                <a:solidFill>
                  <a:srgbClr val="C1FF72"/>
                </a:solidFill>
                <a:latin typeface="Anonymous Pro"/>
                <a:ea typeface="Anonymous Pro"/>
                <a:cs typeface="Anonymous Pro"/>
                <a:sym typeface="Anonymous Pro"/>
              </a:rPr>
              <a:t>HOME</a:t>
            </a:r>
          </a:p>
        </p:txBody>
      </p:sp>
      <p:sp>
        <p:nvSpPr>
          <p:cNvPr name="TextBox 10" id="10"/>
          <p:cNvSpPr txBox="true"/>
          <p:nvPr/>
        </p:nvSpPr>
        <p:spPr>
          <a:xfrm rot="0">
            <a:off x="14450724" y="981075"/>
            <a:ext cx="1173138" cy="332740"/>
          </a:xfrm>
          <a:prstGeom prst="rect">
            <a:avLst/>
          </a:prstGeom>
        </p:spPr>
        <p:txBody>
          <a:bodyPr anchor="t" rtlCol="false" tIns="0" lIns="0" bIns="0" rIns="0">
            <a:spAutoFit/>
          </a:bodyPr>
          <a:lstStyle/>
          <a:p>
            <a:pPr algn="ctr">
              <a:lnSpc>
                <a:spcPts val="2660"/>
              </a:lnSpc>
              <a:spcBef>
                <a:spcPct val="0"/>
              </a:spcBef>
            </a:pPr>
            <a:r>
              <a:rPr lang="en-US" sz="1900">
                <a:solidFill>
                  <a:srgbClr val="C1FF72"/>
                </a:solidFill>
                <a:latin typeface="Anonymous Pro"/>
                <a:ea typeface="Anonymous Pro"/>
                <a:cs typeface="Anonymous Pro"/>
                <a:sym typeface="Anonymous Pro"/>
              </a:rPr>
              <a:t>ABOUT</a:t>
            </a:r>
          </a:p>
        </p:txBody>
      </p:sp>
      <p:sp>
        <p:nvSpPr>
          <p:cNvPr name="TextBox 11" id="11"/>
          <p:cNvSpPr txBox="true"/>
          <p:nvPr/>
        </p:nvSpPr>
        <p:spPr>
          <a:xfrm rot="0">
            <a:off x="15956460" y="981075"/>
            <a:ext cx="1302840" cy="332740"/>
          </a:xfrm>
          <a:prstGeom prst="rect">
            <a:avLst/>
          </a:prstGeom>
        </p:spPr>
        <p:txBody>
          <a:bodyPr anchor="t" rtlCol="false" tIns="0" lIns="0" bIns="0" rIns="0">
            <a:spAutoFit/>
          </a:bodyPr>
          <a:lstStyle/>
          <a:p>
            <a:pPr algn="ctr">
              <a:lnSpc>
                <a:spcPts val="2660"/>
              </a:lnSpc>
              <a:spcBef>
                <a:spcPct val="0"/>
              </a:spcBef>
            </a:pPr>
            <a:r>
              <a:rPr lang="en-US" sz="1900">
                <a:solidFill>
                  <a:srgbClr val="C1FF72"/>
                </a:solidFill>
                <a:latin typeface="Anonymous Pro"/>
                <a:ea typeface="Anonymous Pro"/>
                <a:cs typeface="Anonymous Pro"/>
                <a:sym typeface="Anonymous Pro"/>
              </a:rPr>
              <a:t>CONTACT</a:t>
            </a:r>
          </a:p>
        </p:txBody>
      </p:sp>
      <p:sp>
        <p:nvSpPr>
          <p:cNvPr name="TextBox 12" id="12"/>
          <p:cNvSpPr txBox="true"/>
          <p:nvPr/>
        </p:nvSpPr>
        <p:spPr>
          <a:xfrm rot="0">
            <a:off x="1028700" y="981075"/>
            <a:ext cx="2016202" cy="332740"/>
          </a:xfrm>
          <a:prstGeom prst="rect">
            <a:avLst/>
          </a:prstGeom>
        </p:spPr>
        <p:txBody>
          <a:bodyPr anchor="t" rtlCol="false" tIns="0" lIns="0" bIns="0" rIns="0">
            <a:spAutoFit/>
          </a:bodyPr>
          <a:lstStyle/>
          <a:p>
            <a:pPr algn="l">
              <a:lnSpc>
                <a:spcPts val="2660"/>
              </a:lnSpc>
              <a:spcBef>
                <a:spcPct val="0"/>
              </a:spcBef>
            </a:pPr>
            <a:r>
              <a:rPr lang="en-US" sz="1900">
                <a:solidFill>
                  <a:srgbClr val="C1FF72"/>
                </a:solidFill>
                <a:latin typeface="Anonymous Pro"/>
                <a:ea typeface="Anonymous Pro"/>
                <a:cs typeface="Anonymous Pro"/>
                <a:sym typeface="Anonymous Pro"/>
              </a:rPr>
              <a:t>SALFORD &amp; CO.</a:t>
            </a:r>
          </a:p>
        </p:txBody>
      </p:sp>
      <p:sp>
        <p:nvSpPr>
          <p:cNvPr name="Freeform 13" id="13"/>
          <p:cNvSpPr/>
          <p:nvPr/>
        </p:nvSpPr>
        <p:spPr>
          <a:xfrm flipH="true" flipV="false" rot="0">
            <a:off x="1028700" y="8180971"/>
            <a:ext cx="7315200" cy="1077329"/>
          </a:xfrm>
          <a:custGeom>
            <a:avLst/>
            <a:gdLst/>
            <a:ahLst/>
            <a:cxnLst/>
            <a:rect r="r" b="b" t="t" l="l"/>
            <a:pathLst>
              <a:path h="1077329" w="7315200">
                <a:moveTo>
                  <a:pt x="7315200" y="0"/>
                </a:moveTo>
                <a:lnTo>
                  <a:pt x="0" y="0"/>
                </a:lnTo>
                <a:lnTo>
                  <a:pt x="0" y="1077329"/>
                </a:lnTo>
                <a:lnTo>
                  <a:pt x="7315200" y="1077329"/>
                </a:lnTo>
                <a:lnTo>
                  <a:pt x="731520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DAHB4U3HUKc</dc:identifier>
  <dcterms:modified xsi:type="dcterms:W3CDTF">2011-08-01T06:04:30Z</dcterms:modified>
  <cp:revision>1</cp:revision>
  <dc:title>Technology</dc:title>
</cp:coreProperties>
</file>